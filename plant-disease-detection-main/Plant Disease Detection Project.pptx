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embeddedFontLst>
    <p:embeddedFont>
      <p:font typeface="Calibri" panose="020F0502020204030204"/>
      <p:regular r:id="rId29"/>
      <p:bold r:id="rId30"/>
      <p:italic r:id="rId31"/>
      <p:boldItalic r:id="rId32"/>
    </p:embeddedFont>
    <p:embeddedFont>
      <p:font typeface="Lato" panose="020F0502020204030203"/>
      <p:regular r:id="rId33"/>
      <p:bold r:id="rId34"/>
      <p:italic r:id="rId35"/>
      <p:boldItalic r:id="rId36"/>
    </p:embeddedFont>
    <p:embeddedFont>
      <p:font typeface="Poppins" panose="00000400000000000000"/>
      <p:regular r:id="rId37"/>
      <p:bold r:id="rId38"/>
      <p:italic r:id="rId39"/>
      <p:boldItalic r:id="rId40"/>
    </p:embeddedFont>
    <p:embeddedFont>
      <p:font typeface="Lato Light" panose="020F0502020204030203"/>
      <p:regular r:id="rId41"/>
      <p:bold r:id="rId42"/>
      <p:italic r:id="rId43"/>
      <p:boldItalic r:id="rId44"/>
    </p:embeddedFont>
    <p:embeddedFont>
      <p:font typeface="Poppins SemiBold" panose="0000040000000000000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font" Target="fonts/font20.fntdata"/><Relationship Id="rId47" Type="http://schemas.openxmlformats.org/officeDocument/2006/relationships/font" Target="fonts/font19.fntdata"/><Relationship Id="rId46" Type="http://schemas.openxmlformats.org/officeDocument/2006/relationships/font" Target="fonts/font18.fntdata"/><Relationship Id="rId45" Type="http://schemas.openxmlformats.org/officeDocument/2006/relationships/font" Target="fonts/font17.fntdata"/><Relationship Id="rId44" Type="http://schemas.openxmlformats.org/officeDocument/2006/relationships/font" Target="fonts/font16.fntdata"/><Relationship Id="rId43" Type="http://schemas.openxmlformats.org/officeDocument/2006/relationships/font" Target="fonts/font15.fntdata"/><Relationship Id="rId42" Type="http://schemas.openxmlformats.org/officeDocument/2006/relationships/font" Target="fonts/font14.fntdata"/><Relationship Id="rId41" Type="http://schemas.openxmlformats.org/officeDocument/2006/relationships/font" Target="fonts/font13.fntdata"/><Relationship Id="rId40" Type="http://schemas.openxmlformats.org/officeDocument/2006/relationships/font" Target="fonts/font12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1.fntdata"/><Relationship Id="rId38" Type="http://schemas.openxmlformats.org/officeDocument/2006/relationships/font" Target="fonts/font10.fntdata"/><Relationship Id="rId37" Type="http://schemas.openxmlformats.org/officeDocument/2006/relationships/font" Target="fonts/font9.fntdata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" name="Google Shape;203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1" name="Google Shape;371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8" name="Google Shape;388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7" name="Google Shape;397;p2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2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4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600325" y="3998565"/>
            <a:ext cx="6991350" cy="160764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00325" y="1251644"/>
            <a:ext cx="69913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DD4B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VIETNAM NATIONAL UNIVERSITY – HO CHI MINH CITY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2DD4B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INTERNATIONAL UNIVERSITY</a:t>
            </a:r>
            <a:endParaRPr lang="en-US" sz="1350" b="0" i="0" u="none" strike="noStrike" cap="none">
              <a:solidFill>
                <a:srgbClr val="2DD4B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25541" y="1765994"/>
            <a:ext cx="734091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0FDFA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Image Processing: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500" b="1" i="0" u="none" strike="noStrike" cap="none">
                <a:solidFill>
                  <a:srgbClr val="F0FDFA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 Plant Disease Detection</a:t>
            </a:r>
            <a:endParaRPr lang="en-US" sz="4500" b="1" i="0" u="none" strike="noStrike" cap="none">
              <a:solidFill>
                <a:srgbClr val="F0FDFA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600325" y="3251894"/>
            <a:ext cx="6991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9F6E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School of Electrical Engineering - Project for Midterm Examination</a:t>
            </a:r>
            <a:endParaRPr lang="en-US" sz="1800" b="0" i="0" u="none" strike="noStrike" cap="none">
              <a:solidFill>
                <a:srgbClr val="99F6E4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895600" y="4293840"/>
            <a:ext cx="312896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Phan Đông Nghi</a:t>
            </a: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EEACIU22184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167437" y="4293840"/>
            <a:ext cx="312896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Đỗ Phương Nam</a:t>
            </a: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EEACIU22082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95600" y="4680495"/>
            <a:ext cx="312896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Hoàng Minh Quân</a:t>
            </a: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EEACIU22176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167437" y="4680495"/>
            <a:ext cx="312896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Phan Chí Bảo</a:t>
            </a: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EEACIU22018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895600" y="5067151"/>
            <a:ext cx="312896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Nguyễn Khôi Nguyên</a:t>
            </a: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EEACIU22144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845850" y="5840450"/>
            <a:ext cx="450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Instructor:</a:t>
            </a:r>
            <a:r>
              <a:rPr lang="en-US" sz="18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Ph.D Nguyễn Ngọc Trường Minh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762000"/>
            <a:ext cx="520065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Issue: Agriculture &amp; Economy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433955"/>
            <a:ext cx="4953000" cy="160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Vietnam is an agricultural powerhouse, but fruit tree production faces severe threats. Leaf diseases caused by pests and pathogens significantly reduce yield and fruit quality.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17449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Traditional methods are inefficient:</a:t>
            </a:r>
            <a:endParaRPr lang="en-US" sz="1500" b="1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>
            <p:custDataLst>
              <p:tags r:id="rId3"/>
            </p:custDataLst>
          </p:nvPr>
        </p:nvSpPr>
        <p:spPr>
          <a:xfrm>
            <a:off x="762000" y="4759325"/>
            <a:ext cx="470344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Labor-intensive manual monitoring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5" name="Google Shape;105;p14"/>
          <p:cNvSpPr txBox="1"/>
          <p:nvPr>
            <p:custDataLst>
              <p:tags r:id="rId4"/>
            </p:custDataLst>
          </p:nvPr>
        </p:nvSpPr>
        <p:spPr>
          <a:xfrm>
            <a:off x="762000" y="537337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Delayed detection allows spread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6" name="Google Shape;106;p14"/>
          <p:cNvSpPr txBox="1"/>
          <p:nvPr>
            <p:custDataLst>
              <p:tags r:id="rId5"/>
            </p:custDataLst>
          </p:nvPr>
        </p:nvSpPr>
        <p:spPr>
          <a:xfrm>
            <a:off x="762000" y="600202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Heavy economic losses for farmers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07" name="Google Shape;107;p14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571500" y="48866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571500" y="55057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571500" y="612489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38400"/>
            <a:ext cx="52387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438400"/>
            <a:ext cx="52387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62025" y="340042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Climate Stress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39909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Extreme weather, prolonged droughts, and heavy rains weaken the natural defense mechanisms of fruit trees, making them more vulnerable to infection.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772275" y="340042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Pathogen Spread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772275" y="39909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Humid tropical conditions create the perfect environment for fungal (anthracnose) and bacterial diseases to thrive and spread rapidly across orchards.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2025" y="2828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2967037" y="571500"/>
            <a:ext cx="657082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Environmental Challenges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91125" y="2438388"/>
            <a:ext cx="5238750" cy="3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04875" y="24384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Automated Detection: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Utilizing Convolutional Neural Networks (CNNs) to analyze leaf images.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" y="32385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High Accuracy: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Identifying anomalies like spots, wilting, and discoloration better than human eyes.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04875" y="40386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Scalability: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Processing large datasets to assist farmers in real-time.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48387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Goal: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Early intervention to minimize pesticide use and maximize harvest quality.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2843212" y="571500"/>
            <a:ext cx="68308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Solution: Deep Learning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438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238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038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838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291125" y="2438388"/>
            <a:ext cx="5238750" cy="3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667500" y="762000"/>
            <a:ext cx="52006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Deep Learning Basics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667500" y="186667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Mimicking the human brain, Deep Learning uses multi-layered artificial neural networks to extract features.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667500" y="3028950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BBF24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How it works:</a:t>
            </a:r>
            <a:endParaRPr lang="en-US" sz="2100" b="0" i="0" u="none" strike="noStrike" cap="none">
              <a:solidFill>
                <a:srgbClr val="FBBF24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667500" y="3663225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It starts with simple patterns (edges, colors) in initial layers and builds up to complex concepts (objects) in deeper </a:t>
            </a:r>
            <a:r>
              <a:rPr lang="en-US" sz="1500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layers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667500" y="5006100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Backpropagation: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The algorithm fine-tunes millions of parameters by calculating errors and adjusting weights to minimize loss.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574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581400"/>
            <a:ext cx="52387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18859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Architecture Overview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4765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CNNs are the cornerstone of modern image recognition. They automatically learn hierarchical features without manual engineering.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39624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Components:</a:t>
            </a:r>
            <a:endParaRPr lang="en-US" sz="1500" b="1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219200" y="44577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333500" y="4457700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Convolutional Layer: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Feature extraction (edges, textures).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219200" y="50673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333500" y="5104200"/>
            <a:ext cx="4476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Pooling Layer: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Down-sampling to reduce</a:t>
            </a:r>
            <a:r>
              <a:rPr lang="en-US" sz="1500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complexity.</a:t>
            </a:r>
            <a:endParaRPr lang="en-US" sz="1500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333425" y="5519325"/>
            <a:ext cx="4286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Fully Connected Layer: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Classification (Softmax).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1643062" y="571500"/>
            <a:ext cx="93511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Convolutional Neural Networks (CNN)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196000" y="2057400"/>
            <a:ext cx="5610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133450" y="5427075"/>
            <a:ext cx="43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46175" y="1257300"/>
            <a:ext cx="5842900" cy="228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3345600" y="3712088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Solving Vanishing Gradients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3248250" y="4361150"/>
            <a:ext cx="5775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ResNet introduces </a:t>
            </a: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Skip Connections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(Residual blocks), allowing the input to bypass layers and be added directly to the output.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 rot="10800000" flipH="1">
            <a:off x="642200" y="5656699"/>
            <a:ext cx="228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870788" y="5656700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Enables training of extremely deep networks (100+ layers).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 rot="10800000" flipH="1">
            <a:off x="6194100" y="5656697"/>
            <a:ext cx="13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423488" y="5656700"/>
            <a:ext cx="485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Transfer Learning: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We use pre-trained ResNet models (on ImageNet) to leverage general visual features, fine-tuning them for specific plant disease detection.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2828925" y="571500"/>
            <a:ext cx="686085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Residual Networks (ResNet)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57500" y="1257300"/>
            <a:ext cx="6481475" cy="22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38400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438400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438400"/>
            <a:ext cx="3492549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794225" y="34956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Cropping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866775" y="40862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Removing background noise to focus the model's attention strictly on the leaf area.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572524" y="34956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Augmentation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45074" y="40862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Increasing dataset diversity via flipping, rotation, and brightness adjustments to prevent overfitting.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350824" y="34956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Color Conversion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8423374" y="40862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Converting RGB to Grayscale or BGR to highlight intensity features and reduce computational load.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079575" y="2781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29300" y="278130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636174" y="27813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2419350" y="571500"/>
            <a:ext cx="772096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Image Pre-processing Strategy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574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314825"/>
            <a:ext cx="52387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292417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Region of Interest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3514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Raw images contain irrelevant background data. We employ edge detection (Sobel/Canny) and cropping to isolate the leaf.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10" name="Google Shape;210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00800" y="2076450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3067050" y="571500"/>
            <a:ext cx="63607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Segmentation &amp; Focusing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257300"/>
            <a:ext cx="5238750" cy="531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6381750" y="2276475"/>
            <a:ext cx="550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Enhancing Robustness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381750" y="2867025"/>
            <a:ext cx="5238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 ensure the model recognizes leaves in any orientation or lighting condition, we artificially expand the dataset.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7096125" y="3667125"/>
            <a:ext cx="45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Rotation: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Random angles (30°, 90°, etc.).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7096125" y="4162425"/>
            <a:ext cx="45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Flipping: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Horizontal and Vertical.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096125" y="4657725"/>
            <a:ext cx="45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Translation: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Shifting pixels along X/Y axes.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7096125" y="5153025"/>
            <a:ext cx="45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Brightness: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Simulating different sun exposure levels.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3752850" y="571500"/>
            <a:ext cx="492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Data Augmentation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225" name="Google Shape;225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762750" y="3667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762750" y="4162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762750" y="46577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762750" y="5153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71425" y="4857750"/>
            <a:ext cx="5238900" cy="172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71500" y="1257300"/>
            <a:ext cx="5238750" cy="360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3838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3838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3838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2633662"/>
            <a:ext cx="29019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5074" y="2633662"/>
            <a:ext cx="29019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2633662"/>
            <a:ext cx="29019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2028825" y="1747837"/>
            <a:ext cx="8134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dataset contains 58,888 images (256x256 pixels) divided into 12 classes across 3 plant species.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94225" y="46815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Grape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866775" y="527208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Black Rot, Esca, Leaf Blight, Healthy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4572524" y="46815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Lemon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4645074" y="5272087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Anthracnose, Canker, Healthy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8350824" y="46815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Rose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8423374" y="527208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Black Spot, Downy Mildew, Rust, Healthy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2514600" y="490537"/>
            <a:ext cx="75209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Dataset: Grape, Lemon, &amp; Rose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250" name="Google Shape;250;p23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1246200" y="25145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5024513" y="251458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8802813" y="2519325"/>
            <a:ext cx="21812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51545" y="33280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87465" y="33280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323385" y="33280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159305" y="332809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/>
          <p:nvPr/>
        </p:nvSpPr>
        <p:spPr>
          <a:xfrm>
            <a:off x="571500" y="4133850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507968" y="3899594"/>
            <a:ext cx="26683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BBF24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Clean</a:t>
            </a:r>
            <a:endParaRPr lang="en-US" sz="1500" b="0" i="0" u="none" strike="noStrike" cap="none">
              <a:solidFill>
                <a:srgbClr val="FBBF24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571500" y="433774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Remove low-quality and unreadable images from the source directory.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3343888" y="3899594"/>
            <a:ext cx="26683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BBF24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Resize</a:t>
            </a:r>
            <a:endParaRPr lang="en-US" sz="1500" b="0" i="0" u="none" strike="noStrike" cap="none">
              <a:solidFill>
                <a:srgbClr val="FBBF24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3407419" y="433774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Standardize all images to </a:t>
            </a:r>
            <a:r>
              <a:rPr lang="en-US" sz="12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256x256 pixels</a:t>
            </a: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consistent model input.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6179808" y="3899594"/>
            <a:ext cx="26683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BBF24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Split</a:t>
            </a:r>
            <a:endParaRPr lang="en-US" sz="1500" b="0" i="0" u="none" strike="noStrike" cap="none">
              <a:solidFill>
                <a:srgbClr val="FBBF24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6243339" y="433774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Divide data into Training (85%) and Validation (15%) sets.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9015728" y="3899594"/>
            <a:ext cx="26683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BBF24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Balance</a:t>
            </a:r>
            <a:endParaRPr lang="en-US" sz="1500" b="0" i="0" u="none" strike="noStrike" cap="none">
              <a:solidFill>
                <a:srgbClr val="FBBF24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9079259" y="433774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Ensure equal representation of classes to prevent model bias.</a:t>
            </a:r>
            <a:endParaRPr lang="en-US" sz="12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3033712" y="571500"/>
            <a:ext cx="643080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Methodology: Preparation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724150"/>
            <a:ext cx="52387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333625"/>
            <a:ext cx="52387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962025" y="31146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Step 5: Augmentation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962025" y="370522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Applied extensive augmentation (rotation, scale, shear) to multiply the effective dataset size and improve generalization.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6772275" y="272415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Steps 6 &amp; 7: Processing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7486650" y="3276600"/>
            <a:ext cx="37433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Background Removal: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Using rembg to isolate leaves.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7486650" y="4095750"/>
            <a:ext cx="3743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Gaussian Blur: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Smoothing images to reduce high-frequency noise while preserving features.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2767012" y="571500"/>
            <a:ext cx="699087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Methodology: Enhancement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285" name="Google Shape;285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153275" y="3276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153275" y="40957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3434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571500" y="1576387"/>
            <a:ext cx="550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Layer Structure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7795125" y="2924025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Optimization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7795125" y="351472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Optimizer: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Adam (LR = 0.0001)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7795125" y="401332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Loss Function: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Sparse Categorical Crossentropy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7795125" y="455302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Dropout: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0.5 (to reduce overfitting)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71500" y="3343275"/>
            <a:ext cx="20400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2611487" y="3343275"/>
            <a:ext cx="16497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4261098" y="3343275"/>
            <a:ext cx="15492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71500" y="3943350"/>
            <a:ext cx="20400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2611487" y="3943350"/>
            <a:ext cx="16497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4261098" y="3943350"/>
            <a:ext cx="15492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571500" y="4543425"/>
            <a:ext cx="20400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2611487" y="4543425"/>
            <a:ext cx="16497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4261098" y="4543425"/>
            <a:ext cx="15492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71500" y="5143500"/>
            <a:ext cx="20400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2611487" y="5143500"/>
            <a:ext cx="16497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4261098" y="5143500"/>
            <a:ext cx="15492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3667125" y="509587"/>
            <a:ext cx="51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Proposed CNN Model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310" name="Google Shape;310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71500" y="2203862"/>
            <a:ext cx="6931749" cy="33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1156350" y="5695600"/>
            <a:ext cx="588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</a:rPr>
              <a:t>CNN model for image and object classification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67000"/>
            <a:ext cx="34925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667000"/>
            <a:ext cx="34925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667000"/>
            <a:ext cx="3492549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794225" y="29622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1. Backbone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866775" y="35528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Uses ResNet with an Attention Block to extract a feature map containing key structural info.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4572524" y="29622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2. RPN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4645074" y="35528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Region Proposal Network generates candidate regions (anchors) likely to contain disease spots.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8350824" y="29622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3. Classify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8423374" y="35528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Softmax: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Identifies disease type.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Regressor: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Refines bounding box location.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4110037" y="571500"/>
            <a:ext cx="417052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ResNet Workflow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8"/>
          <p:cNvSpPr txBox="1"/>
          <p:nvPr/>
        </p:nvSpPr>
        <p:spPr>
          <a:xfrm>
            <a:off x="571500" y="1352550"/>
            <a:ext cx="5200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Mobile User Interface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571500" y="26098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user-friendly web application deployed via Flask.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1285875" y="3257550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QR Code Access: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Auto-generated QR for instant mobile connection.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1285875" y="4057650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Simple Workflow: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Upload image → Auto-analyze → Result.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1285875" y="4857750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Tech Stack: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Python, Flask, TensorFlow, HTML/CSS.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337" name="Google Shape;337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3257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4057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0" y="4857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772150" y="898675"/>
            <a:ext cx="302502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797175" y="898675"/>
            <a:ext cx="3394826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3867150"/>
            <a:ext cx="523875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9"/>
          <p:cNvSpPr txBox="1"/>
          <p:nvPr/>
        </p:nvSpPr>
        <p:spPr>
          <a:xfrm>
            <a:off x="6381750" y="24765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Performance Analysis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6381750" y="30670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model was trained for 10 epochs. While training accuracy reached near </a:t>
            </a: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100%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validation accuracy plateaued around </a:t>
            </a: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95%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6572250" y="42005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Observation: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The diverging curves (Validation Loss increasing while Training Loss decreases) indicate </a:t>
            </a:r>
            <a:r>
              <a:rPr lang="en-US" sz="1500" b="1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Overfitting</a:t>
            </a: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3614737" y="571500"/>
            <a:ext cx="52106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Experimental Results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352" name="Google Shape;352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98176" y="1257300"/>
            <a:ext cx="4307550" cy="2637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098176" y="3895000"/>
            <a:ext cx="4307550" cy="26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09750"/>
            <a:ext cx="53340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1809750"/>
            <a:ext cx="53340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/>
          <p:nvPr/>
        </p:nvSpPr>
        <p:spPr>
          <a:xfrm>
            <a:off x="2286000" y="531495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 optimize, we must experiment with different architectures, stronger regularization, or further balance the dataset.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952500" y="222885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BBF24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97%</a:t>
            </a:r>
            <a:endParaRPr lang="en-US" sz="6000" b="1" i="0" u="none" strike="noStrike" cap="none">
              <a:solidFill>
                <a:srgbClr val="FBBF24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952500" y="3286125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9F6E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Approx. Val Accuracy</a:t>
            </a:r>
            <a:endParaRPr lang="en-US" sz="1800" b="0" i="0" u="none" strike="noStrike" cap="none">
              <a:solidFill>
                <a:srgbClr val="99F6E4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952500" y="37528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High theoretical accuracy, but signs of memorization.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6667500" y="222885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BBF24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Gap</a:t>
            </a:r>
            <a:endParaRPr lang="en-US" sz="6000" b="1" i="0" u="none" strike="noStrike" cap="none">
              <a:solidFill>
                <a:srgbClr val="FBBF24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6667500" y="3286125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9F6E4"/>
                </a:solidFill>
                <a:latin typeface="Lato Light" panose="020F0502020204030203"/>
                <a:ea typeface="Lato Light" panose="020F0502020204030203"/>
                <a:cs typeface="Lato Light" panose="020F0502020204030203"/>
                <a:sym typeface="Lato Light" panose="020F0502020204030203"/>
              </a:rPr>
              <a:t>Train vs Validation</a:t>
            </a:r>
            <a:endParaRPr lang="en-US" sz="1800" b="0" i="0" u="none" strike="noStrike" cap="none">
              <a:solidFill>
                <a:srgbClr val="99F6E4"/>
              </a:solidFill>
              <a:latin typeface="Lato Light" panose="020F0502020204030203"/>
              <a:ea typeface="Lato Light" panose="020F0502020204030203"/>
              <a:cs typeface="Lato Light" panose="020F0502020204030203"/>
              <a:sym typeface="Lato Light" panose="020F0502020204030203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6667500" y="37528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3-4% persistent gap indicates the model struggles to generalize to unseen data.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4829175" y="571500"/>
            <a:ext cx="266033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Discussion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71750"/>
            <a:ext cx="52387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247900"/>
            <a:ext cx="52387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 txBox="1"/>
          <p:nvPr/>
        </p:nvSpPr>
        <p:spPr>
          <a:xfrm>
            <a:off x="962025" y="29622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Summary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962025" y="355282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successfully developed a Deep Learning framework utilizing CNNs and ResNet to detect diseases in Grape, Lemon, and Rose leaves. The system is integrated into a mobile-accessible web app.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6772275" y="263842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BF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Future Improvements</a:t>
            </a:r>
            <a:endParaRPr lang="en-US" sz="2100" b="0" i="0" u="none" strike="noStrike" cap="none">
              <a:solidFill>
                <a:srgbClr val="CCFBF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7486650" y="3190875"/>
            <a:ext cx="3743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Address overfitting via aggressive dropout or more data.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7486650" y="3990975"/>
            <a:ext cx="3743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Expand dataset to include more Vietnamese fruit varieties.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81" name="Google Shape;381;p31"/>
          <p:cNvSpPr txBox="1"/>
          <p:nvPr/>
        </p:nvSpPr>
        <p:spPr>
          <a:xfrm>
            <a:off x="7486650" y="4791075"/>
            <a:ext cx="3743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Implement real-time video detection.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4767262" y="571500"/>
            <a:ext cx="279034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Conclusion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383" name="Google Shape;383;p3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153275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153275" y="3990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153275" y="47910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2"/>
          <p:cNvSpPr txBox="1"/>
          <p:nvPr/>
        </p:nvSpPr>
        <p:spPr>
          <a:xfrm>
            <a:off x="3220640" y="1733550"/>
            <a:ext cx="5750718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Questions?</a:t>
            </a:r>
            <a:endParaRPr lang="en-US" sz="75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3357562" y="3352800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Thank you for your attention.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93" name="Google Shape;393;p32"/>
          <p:cNvSpPr txBox="1"/>
          <p:nvPr/>
        </p:nvSpPr>
        <p:spPr>
          <a:xfrm>
            <a:off x="3357562" y="4133850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Project: Plant Disease Detection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3357562" y="4629150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School of Electrical Engineering - IU</a:t>
            </a:r>
            <a:endParaRPr lang="en-US" sz="1500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/>
          <p:nvPr/>
        </p:nvSpPr>
        <p:spPr>
          <a:xfrm>
            <a:off x="571500" y="14147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571500" y="219953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571500" y="298430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571500" y="39671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571500" y="47519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571500" y="21900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571500" y="21900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571500" y="29747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571500" y="29747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571500" y="47424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571500" y="47424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571500" y="55271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571500" y="55271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15" name="Google Shape;415;p3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5641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 txBox="1"/>
          <p:nvPr/>
        </p:nvSpPr>
        <p:spPr>
          <a:xfrm>
            <a:off x="1666875" y="15576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https://vnanet.vn/Data/Articles/2023/03/22/6640391/vna_potal_dragon_fruit_export_turnover_reaches_47_million_usd_stand.jpg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17" name="Google Shape;417;p33"/>
          <p:cNvSpPr txBox="1"/>
          <p:nvPr/>
        </p:nvSpPr>
        <p:spPr>
          <a:xfrm>
            <a:off x="1666875" y="180335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vnanet.vn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18" name="Google Shape;418;p33"/>
          <p:cNvSpPr txBox="1"/>
          <p:nvPr/>
        </p:nvSpPr>
        <p:spPr>
          <a:xfrm>
            <a:off x="1666875" y="234240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https://cdn-images-1.medium.com/max/800/0*2znjHhSFCkaF1AmY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1666875" y="25881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www.iotforall.com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420" name="Google Shape;420;p3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2328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3"/>
          <p:cNvSpPr txBox="1"/>
          <p:nvPr/>
        </p:nvSpPr>
        <p:spPr>
          <a:xfrm>
            <a:off x="1666875" y="312717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https://static.vecteezy.com/system/resources/previews/055/502/829/large_2x/futuristic-artificial-intelligence-brain-with-glowing-neural-network-connections-for-technology-concept-photo.jpg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2" name="Google Shape;422;p33"/>
          <p:cNvSpPr txBox="1"/>
          <p:nvPr/>
        </p:nvSpPr>
        <p:spPr>
          <a:xfrm>
            <a:off x="1666875" y="35709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www.vecteezy.com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3" name="Google Shape;423;p33"/>
          <p:cNvSpPr txBox="1"/>
          <p:nvPr/>
        </p:nvSpPr>
        <p:spPr>
          <a:xfrm>
            <a:off x="1666875" y="41100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https://ik.imagekit.io/upgrad1/abroad-images/imageCompo/images/unnamed8PDPDZ_1_1ZBHFR.webp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1666875" y="43557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www.upgrad.com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5" name="Google Shape;425;p33"/>
          <p:cNvSpPr txBox="1"/>
          <p:nvPr/>
        </p:nvSpPr>
        <p:spPr>
          <a:xfrm>
            <a:off x="1666875" y="48948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https://miro.medium.com/v2/resize:fit:1400/1*MYEKnGn01Q2ZjU4QGscq5w.png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1666875" y="51405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medium.com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427" name="Google Shape;427;p3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57852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3"/>
          <p:cNvSpPr txBox="1"/>
          <p:nvPr/>
        </p:nvSpPr>
        <p:spPr>
          <a:xfrm>
            <a:off x="1666875" y="567957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https://www.bhg.com/thmb/1EofLKsqp4w2Dz1r9TqeTIlNk-U=/1244x0/filters:no_upscale():strip_icc()/crab-apple-fruit-tree-rust-d0c0b053-01cd80cdad534ca18eb4c9e0a9a0b247.jpg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1666875" y="61233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www.bhg.com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4352925" y="347960"/>
            <a:ext cx="366045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Image Sources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431" name="Google Shape;431;p3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71500" y="4091225"/>
            <a:ext cx="857250" cy="5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3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71500" y="2323600"/>
            <a:ext cx="857250" cy="5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3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71500" y="4876000"/>
            <a:ext cx="857250" cy="5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4"/>
          <p:cNvSpPr/>
          <p:nvPr/>
        </p:nvSpPr>
        <p:spPr>
          <a:xfrm>
            <a:off x="1671637" y="2397621"/>
            <a:ext cx="88487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1671637" y="3182391"/>
            <a:ext cx="88487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1671637" y="3967162"/>
            <a:ext cx="88487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1671637" y="3172866"/>
            <a:ext cx="88487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1671637" y="3172866"/>
            <a:ext cx="88487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1671637" y="3957637"/>
            <a:ext cx="88487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1671637" y="3957637"/>
            <a:ext cx="88487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1671637" y="4742408"/>
            <a:ext cx="88487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1671637" y="4742408"/>
            <a:ext cx="88487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8" name="Google Shape;448;p34"/>
          <p:cNvSpPr txBox="1"/>
          <p:nvPr/>
        </p:nvSpPr>
        <p:spPr>
          <a:xfrm>
            <a:off x="2767012" y="2540496"/>
            <a:ext cx="77533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https://blog.roboflow.com/content/images/2020/06/image-71.png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49" name="Google Shape;449;p34"/>
          <p:cNvSpPr txBox="1"/>
          <p:nvPr/>
        </p:nvSpPr>
        <p:spPr>
          <a:xfrm>
            <a:off x="2767012" y="2786211"/>
            <a:ext cx="77533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blog.roboflow.com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450" name="Google Shape;450;p3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71637" y="33318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4"/>
          <p:cNvSpPr txBox="1"/>
          <p:nvPr/>
        </p:nvSpPr>
        <p:spPr>
          <a:xfrm>
            <a:off x="2767012" y="3325266"/>
            <a:ext cx="77533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https://maureenabood.com/wp-content/uploads/2022/06/Grape-leaves-in-a-towel-768x1024.jpg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2767012" y="3570982"/>
            <a:ext cx="77533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maureenabood.com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453" name="Google Shape;453;p3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71637" y="41165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4"/>
          <p:cNvSpPr txBox="1"/>
          <p:nvPr/>
        </p:nvSpPr>
        <p:spPr>
          <a:xfrm>
            <a:off x="2767012" y="4110037"/>
            <a:ext cx="77533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https://cdn.dribbble.com/userupload/12884256/file/original-8c11a7b839639c84729838859e6a3315.png?resize=1600x1200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2767012" y="4355752"/>
            <a:ext cx="77533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dribbble.com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456" name="Google Shape;456;p3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71637" y="49013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4"/>
          <p:cNvSpPr txBox="1"/>
          <p:nvPr/>
        </p:nvSpPr>
        <p:spPr>
          <a:xfrm>
            <a:off x="2767012" y="4894808"/>
            <a:ext cx="77533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https://contenthub-static.grammarly.com/blog/wp-content/uploads/2024/10/6290_Grammarly-Blog-Visuals_1500x800_Asset2_Op1_V1.png</a:t>
            </a:r>
            <a:endParaRPr lang="en-US" sz="975" b="0" i="0" u="none" strike="noStrike" cap="none">
              <a:solidFill>
                <a:srgbClr val="E0F2F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58" name="Google Shape;458;p34"/>
          <p:cNvSpPr txBox="1"/>
          <p:nvPr/>
        </p:nvSpPr>
        <p:spPr>
          <a:xfrm>
            <a:off x="2767012" y="5140523"/>
            <a:ext cx="77533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F2F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www.grammarly.com</a:t>
            </a:r>
            <a:endParaRPr lang="en-US" sz="1200" b="0" i="0" u="none" strike="noStrike" cap="none">
              <a:solidFill>
                <a:srgbClr val="4F46E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4352925" y="571500"/>
            <a:ext cx="366045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D4BF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Image Sources</a:t>
            </a:r>
            <a:endParaRPr lang="en-US" sz="3600" b="1" i="0" u="none" strike="noStrike" cap="none">
              <a:solidFill>
                <a:srgbClr val="2DD4BF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460" name="Google Shape;460;p3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671625" y="2547195"/>
            <a:ext cx="857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3.5,&quot;left&quot;:45,&quot;top&quot;:376.5,&quot;width&quot;:412.4}"/>
</p:tagLst>
</file>

<file path=ppt/tags/tag2.xml><?xml version="1.0" encoding="utf-8"?>
<p:tagLst xmlns:p="http://schemas.openxmlformats.org/presentationml/2006/main">
  <p:tag name="KSO_WM_DIAGRAM_VIRTUALLY_FRAME" val="{&quot;height&quot;:163.5,&quot;left&quot;:45,&quot;top&quot;:376.5,&quot;width&quot;:412.4}"/>
</p:tagLst>
</file>

<file path=ppt/tags/tag3.xml><?xml version="1.0" encoding="utf-8"?>
<p:tagLst xmlns:p="http://schemas.openxmlformats.org/presentationml/2006/main">
  <p:tag name="KSO_WM_DIAGRAM_VIRTUALLY_FRAME" val="{&quot;height&quot;:163.5,&quot;left&quot;:45,&quot;top&quot;:376.5,&quot;width&quot;:412.4}"/>
</p:tagLst>
</file>

<file path=ppt/tags/tag4.xml><?xml version="1.0" encoding="utf-8"?>
<p:tagLst xmlns:p="http://schemas.openxmlformats.org/presentationml/2006/main">
  <p:tag name="KSO_WM_DIAGRAM_VIRTUALLY_FRAME" val="{&quot;height&quot;:163.5,&quot;left&quot;:45,&quot;top&quot;:376.5,&quot;width&quot;:412.4}"/>
</p:tagLst>
</file>

<file path=ppt/tags/tag5.xml><?xml version="1.0" encoding="utf-8"?>
<p:tagLst xmlns:p="http://schemas.openxmlformats.org/presentationml/2006/main">
  <p:tag name="KSO_WM_DIAGRAM_VIRTUALLY_FRAME" val="{&quot;height&quot;:163.5,&quot;left&quot;:45,&quot;top&quot;:376.5,&quot;width&quot;:412.4}"/>
</p:tagLst>
</file>

<file path=ppt/tags/tag6.xml><?xml version="1.0" encoding="utf-8"?>
<p:tagLst xmlns:p="http://schemas.openxmlformats.org/presentationml/2006/main">
  <p:tag name="KSO_WM_DIAGRAM_VIRTUALLY_FRAME" val="{&quot;height&quot;:163.5,&quot;left&quot;:45,&quot;top&quot;:376.5,&quot;width&quot;:412.4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7409</Words>
  <Application>WPS Presentation</Application>
  <PresentationFormat/>
  <Paragraphs>302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Lato</vt:lpstr>
      <vt:lpstr>Poppins</vt:lpstr>
      <vt:lpstr>Lato Light</vt:lpstr>
      <vt:lpstr>Poppins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DPN</cp:lastModifiedBy>
  <cp:revision>1</cp:revision>
  <dcterms:created xsi:type="dcterms:W3CDTF">2025-12-16T15:02:07Z</dcterms:created>
  <dcterms:modified xsi:type="dcterms:W3CDTF">2025-12-16T15:02:09Z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A81F107C16034C1B81DD92514CDCAEA9_12</vt:lpwstr>
  </property>
  <property fmtid="{D5CDD505-2E9C-101B-9397-08002B2CF9AE}" pid="3" name="KSOProductBuildVer">
    <vt:lpwstr>1033-12.2.0.23155</vt:lpwstr>
  </property>
</Properties>
</file>